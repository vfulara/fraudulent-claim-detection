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6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47"/>
  </p:normalViewPr>
  <p:slideViewPr>
    <p:cSldViewPr snapToGrid="0" snapToObjects="1">
      <p:cViewPr varScale="1">
        <p:scale>
          <a:sx n="126" d="100"/>
          <a:sy n="126" d="100"/>
        </p:scale>
        <p:origin x="232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3200400"/>
            <a:ext cx="11987784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FRAUDULENT CLAIM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A456"/>
                </a:solidFill>
              </a:rPr>
              <a:t>Data-Driven Fraud Prevention for Global Insure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44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988C"/>
                </a:solidFill>
              </a:rPr>
              <a:t>Exploratory Data Analysis  ·  Predictive Modelling  ·  Business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977639"/>
            <a:ext cx="2057400" cy="9144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3977639"/>
            <a:ext cx="2057400" cy="4572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456"/>
                </a:solidFill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988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988C"/>
                </a:solidFill>
              </a:rPr>
              <a:t>Claims Analysed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2191" y="3977639"/>
            <a:ext cx="2057400" cy="9144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22191" y="3977639"/>
            <a:ext cx="2057400" cy="4572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1" y="4069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456"/>
                </a:solidFill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44988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988C"/>
                </a:solidFill>
              </a:rPr>
              <a:t>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3977639"/>
            <a:ext cx="2057400" cy="9144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3977639"/>
            <a:ext cx="2057400" cy="4572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1344" y="4069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456"/>
                </a:solidFill>
              </a:rPr>
              <a:t>~25%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44988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988C"/>
                </a:solidFill>
              </a:rPr>
              <a:t>Fraud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96" y="3977639"/>
            <a:ext cx="2057400" cy="9144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0496" y="3977639"/>
            <a:ext cx="2057400" cy="4572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4069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456"/>
                </a:solidFill>
              </a:rPr>
              <a:t>84.7%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44988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988C"/>
                </a:solidFill>
              </a:rPr>
              <a:t>Model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988C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End-to-end analysis — from raw data to boardroom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2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07008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207008"/>
            <a:ext cx="2743200" cy="54864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261872"/>
            <a:ext cx="347472" cy="2157984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" y="195681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316736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Dataset &amp; EDA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755648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1,000 claims · 40 features · data cleaning, class balance, distributions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07008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207008"/>
            <a:ext cx="2743200" cy="54864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1261872"/>
            <a:ext cx="347472" cy="2157984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195681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1316736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EDA Visualizations — Behavior &amp;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1755648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Hobby/occupation fraud rates · Claim amount distributions by fraud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207008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207008"/>
            <a:ext cx="2743200" cy="54864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44768" y="1261872"/>
            <a:ext cx="347472" cy="2157984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195681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316736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EDA Visualizations — Geography &amp; Severity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1755648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State hotspots · Incident severity paradox · Hour of day · Documentation 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1207008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89136" y="1207008"/>
            <a:ext cx="2743200" cy="54864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89136" y="1261872"/>
            <a:ext cx="347472" cy="2157984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89136" y="195681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316736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Feature Correlations &amp; Model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1755648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Correlation heatmap · Confusion matrices for LR and 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694176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6032" y="3694176"/>
            <a:ext cx="2743200" cy="54864"/>
          </a:xfrm>
          <a:prstGeom prst="rect">
            <a:avLst/>
          </a:prstGeom>
          <a:solidFill>
            <a:srgbClr val="5A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" y="3749039"/>
            <a:ext cx="347472" cy="2157984"/>
          </a:xfrm>
          <a:prstGeom prst="rect">
            <a:avLst/>
          </a:prstGeom>
          <a:solidFill>
            <a:srgbClr val="5A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032" y="444398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3803904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Key EDA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4242816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Top 6 fraud signals confirmed visually and statistically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94176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0" y="3694176"/>
            <a:ext cx="274320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0" y="3749039"/>
            <a:ext cx="347472" cy="215798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0" y="444398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1024" y="3803904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Model Building &amp;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1024" y="4242816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Logistic Regression vs Tuned Random Forest — full metric comparison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94176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44768" y="3694176"/>
            <a:ext cx="2743200" cy="54864"/>
          </a:xfrm>
          <a:prstGeom prst="rect">
            <a:avLst/>
          </a:prstGeom>
          <a:solidFill>
            <a:srgbClr val="6B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44768" y="3749039"/>
            <a:ext cx="347472" cy="2157984"/>
          </a:xfrm>
          <a:prstGeom prst="rect">
            <a:avLst/>
          </a:prstGeom>
          <a:solidFill>
            <a:srgbClr val="6B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44768" y="444398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3803904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EDA Confirmed by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4242816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Coefficients &amp; feature importances that validate EDA observations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89136" y="3694176"/>
            <a:ext cx="274320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89136" y="3694176"/>
            <a:ext cx="2743200" cy="54864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89136" y="3749039"/>
            <a:ext cx="347472" cy="2157984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89136" y="444398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803904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Business Recommendations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242816"/>
            <a:ext cx="2249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</a:rPr>
              <a:t>Area-wise fraud prevention strategy across 4 operational pillars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&amp;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1,000 insurance claims · 40 raw features · target: fraud_reported (Y / 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3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2761488" cy="89611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21615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645920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Claims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70432"/>
            <a:ext cx="2761488" cy="89611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21615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~25%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645920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Fraud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170432"/>
            <a:ext cx="2761488" cy="89611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121615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645920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Clean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170432"/>
            <a:ext cx="2761488" cy="89611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121615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645920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New Features Eng.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231136"/>
            <a:ext cx="5596128" cy="3474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286000"/>
            <a:ext cx="5367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Quality &amp; Cleaning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578608"/>
            <a:ext cx="5596128" cy="1783080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651760"/>
            <a:ext cx="530352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Replaced '?' in collision_type, property_damage, police_report_available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985515"/>
            <a:ext cx="530352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Dropped _c39 (100% null), policy_number, incident_location, insured_zip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319272"/>
            <a:ext cx="530352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Imputed collision_type (mode) &amp; property_damage (claim-value logic)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653028"/>
            <a:ext cx="530352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Removed negative umbrella_limit &amp; illogical premium/claim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86783"/>
            <a:ext cx="530352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Final: 998 rows × 36 features after cleaning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231136"/>
            <a:ext cx="5852160" cy="34747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8776" y="2286000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 Balance &amp; Splitting Strategy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578608"/>
            <a:ext cx="5852160" cy="1783080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2651760"/>
            <a:ext cx="5541264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Target: ~75% Legitimate · ~25% Fraudulent (imbalanced)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985515"/>
            <a:ext cx="5541264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Train / Validation: 70 / 30 stratified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319272"/>
            <a:ext cx="5541264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Training set: 698 rows · Validation: 299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653028"/>
            <a:ext cx="5541264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RandomOverSampler → balanced 1,050 training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986783"/>
            <a:ext cx="5541264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▸  StandardScaler: fitted on train, applied to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4498848"/>
            <a:ext cx="11676888" cy="2743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452628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456"/>
                </a:solidFill>
              </a:rPr>
              <a:t>KEY DISTRIBUTION FINDINGS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818888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▸  Vehicle &amp; Total Claim → Bimodal distribution (trivial low + genuine mid-range)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818888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▸  Umbrella Limit → Highly right-skewed; most customers skip extra coverage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111496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▸  Incident Hour → Fraud median 13:00 vs Legitimate 11:00 (afternoon spike)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111496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▸  Capital Loss → 50%+ of fraud cases show capital_loss =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Visualizations — Behavioral &amp; Claim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Fraud rate by hobby/occupation  ·  Claim amount distributions by fraud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4 / 11</a:t>
            </a:r>
          </a:p>
        </p:txBody>
      </p:sp>
      <p:pic>
        <p:nvPicPr>
          <p:cNvPr id="10" name="Picture 9" descr="plot_a_hobby_occu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6309360" cy="3931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5084064"/>
            <a:ext cx="6309360" cy="566928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148072"/>
            <a:ext cx="6108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chess &amp; cross-fit show ~80% fraud rate  ·  exec-managerial is highest-risk occupation  ·  Red bars exceed the 40% fraud threshold — immediate risk-scoring candidates at policy issuance</a:t>
            </a:r>
          </a:p>
        </p:txBody>
      </p:sp>
      <p:pic>
        <p:nvPicPr>
          <p:cNvPr id="13" name="Picture 12" descr="plot_b_claim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15568"/>
            <a:ext cx="5212080" cy="3931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5084064"/>
            <a:ext cx="5212080" cy="566928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5148072"/>
            <a:ext cx="5010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Fraudulent claims cluster at higher vehicle &amp; total claim values  ·  Injury claim shows less separation — fraudsters inflate vehicle damage while minimising body injury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Visualizations — Geography, Severity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State-level fraud rates  ·  Incident severity paradox  ·  Hour of day &amp; police report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5 / 11</a:t>
            </a:r>
          </a:p>
        </p:txBody>
      </p:sp>
      <p:pic>
        <p:nvPicPr>
          <p:cNvPr id="10" name="Picture 9" descr="plot_c_geo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7178040" cy="3794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4937760"/>
            <a:ext cx="7178040" cy="658368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001768"/>
            <a:ext cx="6976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OH &amp; PA are fraud hotspots (&gt;30%)  ·  Major Damage carries the highest fraud %  ·  Fraudsters stage moderate-damage scenes — trivial &amp; total-loss incidents are less likely to be fraudulent</a:t>
            </a:r>
          </a:p>
        </p:txBody>
      </p:sp>
      <p:pic>
        <p:nvPicPr>
          <p:cNvPr id="13" name="Picture 12" descr="plot_e_timing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1" y="1115568"/>
            <a:ext cx="4370832" cy="3794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71231" y="4937760"/>
            <a:ext cx="4370832" cy="658368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59" y="5001768"/>
            <a:ext cx="4169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Fraud peaks at hour 13 (vs 11 for legit)  ·  No police report strongly correlates with fraud  ·  Property damage = YES is a significant 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Correlations &amp;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Correlation heatmap for feature selection  ·  Confusion matrices on validation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6 / 11</a:t>
            </a:r>
          </a:p>
        </p:txBody>
      </p:sp>
      <p:pic>
        <p:nvPicPr>
          <p:cNvPr id="10" name="Picture 9" descr="plot_d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577840" cy="40965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5239512"/>
            <a:ext cx="5577840" cy="548640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303520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total_claim · vehicle_claim · injury_claim are highly co-linear → replaced with claim_to_premium_ratio  ·  age &amp; months_as_customer correlated → age dropped to reduce redundancy</a:t>
            </a:r>
          </a:p>
        </p:txBody>
      </p:sp>
      <p:pic>
        <p:nvPicPr>
          <p:cNvPr id="13" name="Picture 12" descr="plot_f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5897880" cy="34564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35040" y="4901184"/>
            <a:ext cx="5897880" cy="88696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4965192"/>
            <a:ext cx="56967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Random Forest catches 60/74 fraud cases (81% sensitivity)  ·  32 false alarms vs 35 for LR  ·  Both models flag ~81% of actual frauds — minimising costly missed detections for the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EDA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Six patterns that clearly distinguish fraudulent from legitimate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7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88720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3794760" cy="365760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Hobby Risk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55448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664208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573A"/>
                </a:solidFill>
              </a:rPr>
              <a:t>chess &amp; cross-fit → ~80%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066543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Lifestyle signals intent before a claim is filed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1188720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1104" y="1188720"/>
            <a:ext cx="3794760" cy="36576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2435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Severity Paradox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55448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664208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456"/>
                </a:solidFill>
              </a:rPr>
              <a:t>Major Damage → MORE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66543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Fraudsters stage moderate scenes to appear credible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5" y="1188720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66175" y="1188720"/>
            <a:ext cx="3794760" cy="365760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12435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Vehicle vs Injury Ratio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155448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1664208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A8"/>
                </a:solidFill>
              </a:rPr>
              <a:t>vehicle_claim &gt;&gt; injury_claim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066543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Staged accidents inflate vehicle damage; minimize injury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749039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6032" y="3749039"/>
            <a:ext cx="379476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803903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Education Skew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411480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224527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C59"/>
                </a:solidFill>
              </a:rPr>
              <a:t>Masters / PhD / MD → higher fraud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626864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Higher financial literacy enables sophisticated schemes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1104" y="3749039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61104" y="3749039"/>
            <a:ext cx="3794760" cy="3657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3803903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Geographic Hotspots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61104" y="411480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4224527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4B"/>
                </a:solidFill>
              </a:rPr>
              <a:t>OH &amp; PA → high fraud states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626864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Regional fraud networks require targeted SIU deployment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66175" y="3749039"/>
            <a:ext cx="3794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66175" y="3749039"/>
            <a:ext cx="3794760" cy="365760"/>
          </a:xfrm>
          <a:prstGeom prst="rect">
            <a:avLst/>
          </a:prstGeom>
          <a:solidFill>
            <a:srgbClr val="7B4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94192" y="3803903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Witness + No Police Report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66175" y="4114800"/>
            <a:ext cx="3794760" cy="5029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94192" y="4224527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F28"/>
                </a:solidFill>
              </a:rPr>
              <a:t>≥2 witnesses + no police doc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4626864"/>
            <a:ext cx="3547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5C5C"/>
                </a:solidFill>
              </a:rPr>
              <a:t>Pre-arranged witnesses without official records = staging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118872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Building &amp; Validation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Logistic Regression vs Tuned Random Forest  ·  Stratified 70/30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43000"/>
            <a:ext cx="11676888" cy="3840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7957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11795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LR —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17957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LR —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1795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RF —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1795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RF —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527048"/>
            <a:ext cx="1167688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609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1" y="1609344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8</a:t>
            </a:r>
            <a:r>
              <a:rPr lang="en-US" sz="1050" b="0" i="0" dirty="0">
                <a:solidFill>
                  <a:srgbClr val="2C2C2C"/>
                </a:solidFill>
              </a:rPr>
              <a:t>7.62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1609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83.67%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6093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93.43%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6093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84.67%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1956815"/>
            <a:ext cx="11676888" cy="429768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03911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1" y="2039111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2C2C2C"/>
                </a:solidFill>
              </a:rPr>
              <a:t>88.57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203911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81.08%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203911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96.76%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03911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81.08%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386584"/>
            <a:ext cx="1167688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46887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Specificity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1" y="2468879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2C2C2C"/>
                </a:solidFill>
              </a:rPr>
              <a:t>86.67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46887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84.51%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246887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90.10%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46887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85.84%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16352"/>
            <a:ext cx="11676888" cy="429768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28986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B3A4B"/>
                </a:solidFill>
              </a:rPr>
              <a:t>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1" y="2898648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86.</a:t>
            </a:r>
            <a:r>
              <a:rPr lang="en-US" sz="1050" b="0" i="0" dirty="0">
                <a:solidFill>
                  <a:srgbClr val="2C2C2C"/>
                </a:solidFill>
              </a:rPr>
              <a:t>92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289864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63.16%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28986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90.71%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8986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65.22%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3714667"/>
            <a:ext cx="1167688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79696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F1-Score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1" y="3796962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8</a:t>
            </a:r>
            <a:r>
              <a:rPr lang="en-US" sz="1050" b="0" i="0" dirty="0">
                <a:solidFill>
                  <a:srgbClr val="2C2C2C"/>
                </a:solidFill>
              </a:rPr>
              <a:t>7</a:t>
            </a:r>
            <a:r>
              <a:rPr sz="1050" b="0" i="0" dirty="0">
                <a:solidFill>
                  <a:srgbClr val="2C2C2C"/>
                </a:solidFill>
              </a:rPr>
              <a:t>.</a:t>
            </a:r>
            <a:r>
              <a:rPr lang="en-US" sz="1050" b="0" i="0" dirty="0">
                <a:solidFill>
                  <a:srgbClr val="2C2C2C"/>
                </a:solidFill>
              </a:rPr>
              <a:t>74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379696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71.01%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8312" y="379696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93.64%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379696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72.29%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4154294"/>
            <a:ext cx="11676888" cy="429768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23659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4B"/>
                </a:solidFill>
              </a:rPr>
              <a:t>AUC-ROC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6351" y="423659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2C2C"/>
                </a:solidFill>
              </a:rPr>
              <a:t>93.28%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4236590"/>
            <a:ext cx="2057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i="0" dirty="0">
                <a:solidFill>
                  <a:srgbClr val="4A7C59"/>
                </a:solidFill>
              </a:rPr>
              <a:t>84.24%</a:t>
            </a:r>
            <a:endParaRPr sz="1050" b="1" i="0" dirty="0">
              <a:solidFill>
                <a:srgbClr val="4A7C59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68312" y="4236590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9</a:t>
            </a:r>
            <a:r>
              <a:rPr lang="en-US" sz="1050" b="0" i="0" dirty="0">
                <a:solidFill>
                  <a:srgbClr val="2C2C2C"/>
                </a:solidFill>
              </a:rPr>
              <a:t>8.91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4236590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i="0" dirty="0">
                <a:solidFill>
                  <a:srgbClr val="4A7C59"/>
                </a:solidFill>
              </a:rPr>
              <a:t>83.51%</a:t>
            </a:r>
            <a:endParaRPr sz="1050" b="1" i="0" dirty="0">
              <a:solidFill>
                <a:srgbClr val="4A7C59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56032" y="4627369"/>
            <a:ext cx="11676888" cy="42062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4673089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</a:rPr>
              <a:t>WINNER: Tuned Random Forest  —  Val. Accuracy 84.67%  ·  F1 72.29%  ·  Best balance of Sensitivity &amp; Specificity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5094222"/>
            <a:ext cx="5596128" cy="347472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6616" y="5116066"/>
            <a:ext cx="5367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Logistic Regression Strengths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5905" y="5472683"/>
            <a:ext cx="5596255" cy="1028700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8620" y="5565329"/>
            <a:ext cx="5285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11 features selected by RFECV (optimal subset)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810228"/>
            <a:ext cx="5285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AUC-ROC 93.28% — excellent class discrimination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043676"/>
            <a:ext cx="5285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Highly interpretable: coefficients map to business rules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5060695"/>
            <a:ext cx="5852160" cy="34747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08776" y="5115558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Random Forest Strengths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5417818"/>
            <a:ext cx="5852160" cy="1083565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04204" y="5513244"/>
            <a:ext cx="5541264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Captures non-linear interactions missed by LR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6772" y="5757846"/>
            <a:ext cx="5541264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</a:t>
            </a:r>
            <a:r>
              <a:rPr sz="950" b="0" i="0" dirty="0" err="1">
                <a:solidFill>
                  <a:srgbClr val="2C2C2C"/>
                </a:solidFill>
              </a:rPr>
              <a:t>GridSearchCV</a:t>
            </a:r>
            <a:r>
              <a:rPr sz="950" b="0" i="0" dirty="0">
                <a:solidFill>
                  <a:srgbClr val="2C2C2C"/>
                </a:solidFill>
              </a:rPr>
              <a:t> tuned: depth=22, trees=70, leaf=5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7600" y="5982637"/>
            <a:ext cx="5541264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5-fold CV accuracy ~92% — robust </a:t>
            </a:r>
            <a:r>
              <a:rPr sz="950" b="0" i="0" dirty="0" err="1">
                <a:solidFill>
                  <a:srgbClr val="2C2C2C"/>
                </a:solidFill>
              </a:rPr>
              <a:t>generalisation</a:t>
            </a:r>
            <a:endParaRPr sz="950" b="0" i="0" dirty="0">
              <a:solidFill>
                <a:srgbClr val="2C2C2C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90488" y="6231636"/>
            <a:ext cx="5541264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C2C2C"/>
                </a:solidFill>
              </a:rPr>
              <a:t>▸  Balanced subsample </a:t>
            </a:r>
            <a:r>
              <a:rPr sz="950" b="0" i="0" dirty="0" err="1">
                <a:solidFill>
                  <a:srgbClr val="2C2C2C"/>
                </a:solidFill>
              </a:rPr>
              <a:t>class_weight</a:t>
            </a:r>
            <a:r>
              <a:rPr sz="950" b="0" i="0" dirty="0">
                <a:solidFill>
                  <a:srgbClr val="2C2C2C"/>
                </a:solidFill>
              </a:rPr>
              <a:t> handles imbalance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96AAA03-5ACC-12DB-7FB0-8A5905590560}"/>
              </a:ext>
            </a:extLst>
          </p:cNvPr>
          <p:cNvSpPr/>
          <p:nvPr/>
        </p:nvSpPr>
        <p:spPr>
          <a:xfrm>
            <a:off x="256032" y="3253231"/>
            <a:ext cx="11676888" cy="429768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5E6641-1F42-BAB7-EDD8-2023BBC906D2}"/>
              </a:ext>
            </a:extLst>
          </p:cNvPr>
          <p:cNvSpPr txBox="1"/>
          <p:nvPr/>
        </p:nvSpPr>
        <p:spPr>
          <a:xfrm>
            <a:off x="365760" y="3335527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1B3A4B"/>
                </a:solidFill>
              </a:rPr>
              <a:t>Recall</a:t>
            </a:r>
            <a:endParaRPr sz="1050" b="1" i="0" dirty="0">
              <a:solidFill>
                <a:srgbClr val="1B3A4B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95BA90-F0D8-F406-392C-41D0941A7422}"/>
              </a:ext>
            </a:extLst>
          </p:cNvPr>
          <p:cNvSpPr txBox="1"/>
          <p:nvPr/>
        </p:nvSpPr>
        <p:spPr>
          <a:xfrm>
            <a:off x="2816351" y="3335527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8</a:t>
            </a:r>
            <a:r>
              <a:rPr lang="en-US" sz="1050" b="0" i="0" dirty="0">
                <a:solidFill>
                  <a:srgbClr val="2C2C2C"/>
                </a:solidFill>
              </a:rPr>
              <a:t>8</a:t>
            </a:r>
            <a:r>
              <a:rPr sz="1050" b="0" i="0" dirty="0">
                <a:solidFill>
                  <a:srgbClr val="2C2C2C"/>
                </a:solidFill>
              </a:rPr>
              <a:t>.</a:t>
            </a:r>
            <a:r>
              <a:rPr lang="en-US" sz="1050" b="0" i="0" dirty="0">
                <a:solidFill>
                  <a:srgbClr val="2C2C2C"/>
                </a:solidFill>
              </a:rPr>
              <a:t>57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887E76-EEC0-8D5E-2048-34200853C153}"/>
              </a:ext>
            </a:extLst>
          </p:cNvPr>
          <p:cNvSpPr txBox="1"/>
          <p:nvPr/>
        </p:nvSpPr>
        <p:spPr>
          <a:xfrm>
            <a:off x="4873752" y="3335527"/>
            <a:ext cx="2057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2C2C2C"/>
                </a:solidFill>
              </a:rPr>
              <a:t>81.08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498CE9-8362-57C0-1B0E-FCCD61D0671B}"/>
              </a:ext>
            </a:extLst>
          </p:cNvPr>
          <p:cNvSpPr txBox="1"/>
          <p:nvPr/>
        </p:nvSpPr>
        <p:spPr>
          <a:xfrm>
            <a:off x="7068312" y="3335527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C2C2C"/>
                </a:solidFill>
              </a:rPr>
              <a:t>9</a:t>
            </a:r>
            <a:r>
              <a:rPr lang="en-US" sz="1050" b="0" i="0" dirty="0">
                <a:solidFill>
                  <a:srgbClr val="2C2C2C"/>
                </a:solidFill>
              </a:rPr>
              <a:t>6</a:t>
            </a:r>
            <a:r>
              <a:rPr sz="1050" b="0" i="0" dirty="0">
                <a:solidFill>
                  <a:srgbClr val="2C2C2C"/>
                </a:solidFill>
              </a:rPr>
              <a:t>.7</a:t>
            </a:r>
            <a:r>
              <a:rPr lang="en-US" sz="1050" b="0" i="0" dirty="0">
                <a:solidFill>
                  <a:srgbClr val="2C2C2C"/>
                </a:solidFill>
              </a:rPr>
              <a:t>6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453C5F-48EC-57B3-31AE-1DD3AD158E76}"/>
              </a:ext>
            </a:extLst>
          </p:cNvPr>
          <p:cNvSpPr txBox="1"/>
          <p:nvPr/>
        </p:nvSpPr>
        <p:spPr>
          <a:xfrm>
            <a:off x="9125712" y="3335527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2C2C2C"/>
                </a:solidFill>
              </a:rPr>
              <a:t>81</a:t>
            </a:r>
            <a:r>
              <a:rPr sz="1050" b="0" i="0" dirty="0">
                <a:solidFill>
                  <a:srgbClr val="2C2C2C"/>
                </a:solidFill>
              </a:rPr>
              <a:t>.</a:t>
            </a:r>
            <a:r>
              <a:rPr lang="en-US" sz="1050" dirty="0">
                <a:solidFill>
                  <a:srgbClr val="2C2C2C"/>
                </a:solidFill>
              </a:rPr>
              <a:t>08</a:t>
            </a:r>
            <a:r>
              <a:rPr sz="1050" b="0" i="0" dirty="0">
                <a:solidFill>
                  <a:srgbClr val="2C2C2C"/>
                </a:solidFill>
              </a:rPr>
              <a:t>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ROC-AUC Comparison — Validation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Area Under the Curve measures discrimination ability on unseen data  ·  Higher AUC = better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9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115567"/>
            <a:ext cx="4389120" cy="2084831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188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456"/>
                </a:solidFill>
              </a:rPr>
              <a:t>AUC-ROC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5361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988C"/>
                </a:solidFill>
              </a:rPr>
              <a:t>Validation Set (299 records)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783080"/>
            <a:ext cx="4389120" cy="36576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901952"/>
            <a:ext cx="4389120" cy="4572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2" y="1993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1956816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rgbClr val="4472A8"/>
                </a:solidFill>
              </a:rPr>
              <a:t>0.8</a:t>
            </a:r>
            <a:r>
              <a:rPr lang="en-US" sz="2000" b="1" i="0" dirty="0">
                <a:solidFill>
                  <a:srgbClr val="4472A8"/>
                </a:solidFill>
              </a:rPr>
              <a:t>424</a:t>
            </a:r>
            <a:endParaRPr sz="2000" b="1" i="0" dirty="0">
              <a:solidFill>
                <a:srgbClr val="4472A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43800" y="2404872"/>
            <a:ext cx="4389120" cy="457200"/>
          </a:xfrm>
          <a:prstGeom prst="rect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2" y="2496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Random Forest (Tuned)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459736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rgbClr val="B5573A"/>
                </a:solidFill>
              </a:rPr>
              <a:t>0.8</a:t>
            </a:r>
            <a:r>
              <a:rPr lang="en-US" sz="2000" b="1" i="0" dirty="0">
                <a:solidFill>
                  <a:srgbClr val="B5573A"/>
                </a:solidFill>
              </a:rPr>
              <a:t>351</a:t>
            </a:r>
            <a:endParaRPr sz="2000" b="1" i="0" dirty="0">
              <a:solidFill>
                <a:srgbClr val="B5573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43800" y="2907792"/>
            <a:ext cx="4389120" cy="630936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2" y="29992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Random (baseline)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626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5C5C5C"/>
                </a:solidFill>
              </a:rPr>
              <a:t>0.500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3200400"/>
            <a:ext cx="4160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50" b="1" dirty="0">
                <a:solidFill>
                  <a:srgbClr val="C9A456"/>
                </a:solidFill>
              </a:rPr>
              <a:t> </a:t>
            </a:r>
            <a:endParaRPr sz="950" b="1" i="0" dirty="0">
              <a:solidFill>
                <a:srgbClr val="C9A45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43800" y="3703320"/>
            <a:ext cx="4389120" cy="347472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2" y="3739896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these AUC scores mean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4050791"/>
            <a:ext cx="4389120" cy="1920240"/>
          </a:xfrm>
          <a:prstGeom prst="rect">
            <a:avLst/>
          </a:prstGeom>
          <a:solidFill>
            <a:srgbClr val="EE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2" y="4114800"/>
            <a:ext cx="416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2C2C2C"/>
                </a:solidFill>
              </a:rPr>
              <a:t>▸  AUC 0.8</a:t>
            </a:r>
            <a:r>
              <a:rPr lang="en-US" sz="900" b="0" i="0" dirty="0">
                <a:solidFill>
                  <a:srgbClr val="2C2C2C"/>
                </a:solidFill>
              </a:rPr>
              <a:t>351</a:t>
            </a:r>
            <a:r>
              <a:rPr sz="900" b="0" i="0" dirty="0">
                <a:solidFill>
                  <a:srgbClr val="2C2C2C"/>
                </a:solidFill>
              </a:rPr>
              <a:t>: RF correctly ranks a random fraud
  claim above a legit one 8</a:t>
            </a:r>
            <a:r>
              <a:rPr lang="en-US" sz="900" b="0" i="0" dirty="0">
                <a:solidFill>
                  <a:srgbClr val="2C2C2C"/>
                </a:solidFill>
              </a:rPr>
              <a:t>3</a:t>
            </a:r>
            <a:r>
              <a:rPr sz="900" b="0" i="0" dirty="0">
                <a:solidFill>
                  <a:srgbClr val="2C2C2C"/>
                </a:solidFill>
              </a:rPr>
              <a:t>.</a:t>
            </a:r>
            <a:r>
              <a:rPr lang="en-US" sz="900" b="0" i="0" dirty="0">
                <a:solidFill>
                  <a:srgbClr val="2C2C2C"/>
                </a:solidFill>
              </a:rPr>
              <a:t>5</a:t>
            </a:r>
            <a:r>
              <a:rPr sz="900" b="0" i="0" dirty="0">
                <a:solidFill>
                  <a:srgbClr val="2C2C2C"/>
                </a:solidFill>
              </a:rPr>
              <a:t>% of the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4572000"/>
            <a:ext cx="416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2C2C2C"/>
                </a:solidFill>
              </a:rPr>
              <a:t>▸  AUC 0.8</a:t>
            </a:r>
            <a:r>
              <a:rPr lang="en-US" sz="900" b="0" i="0" dirty="0">
                <a:solidFill>
                  <a:srgbClr val="2C2C2C"/>
                </a:solidFill>
              </a:rPr>
              <a:t>424</a:t>
            </a:r>
            <a:r>
              <a:rPr sz="900" b="0" i="0" dirty="0">
                <a:solidFill>
                  <a:srgbClr val="2C2C2C"/>
                </a:solidFill>
              </a:rPr>
              <a:t>: LR is also strong — suitable when
  interpretability is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5029200"/>
            <a:ext cx="4160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</a:rPr>
              <a:t>▸  Both models far exceed random (0.50),
  confirming genuine predictive power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EA1DF7-AA80-E4C9-A456-808ABA6F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99" y="1221332"/>
            <a:ext cx="6449469" cy="4808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Insights Confirmed by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LR coefficients &amp; RF importances validate every major EDA observation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128016" cy="1600200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261872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4B"/>
                </a:solidFill>
              </a:rPr>
              <a:t>Hobbies: chess &amp; cross-fit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627632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70078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~80% fraud rate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011680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B5573A"/>
                </a:solidFill>
              </a:rPr>
              <a:t>Model:  Coeff +2.</a:t>
            </a:r>
            <a:r>
              <a:rPr lang="en-US" sz="1000" b="1" i="0" dirty="0">
                <a:solidFill>
                  <a:srgbClr val="B5573A"/>
                </a:solidFill>
              </a:rPr>
              <a:t>14</a:t>
            </a:r>
            <a:r>
              <a:rPr sz="1000" b="1" i="0" dirty="0">
                <a:solidFill>
                  <a:srgbClr val="B5573A"/>
                </a:solidFill>
              </a:rPr>
              <a:t> · p&lt;0.001 · Strongest predictor overall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170432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1170432"/>
            <a:ext cx="128016" cy="160020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1261872"/>
            <a:ext cx="5321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B3A4B"/>
                </a:solidFill>
              </a:rPr>
              <a:t>Incident Severity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96" y="1627632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170078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Major Damage = more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011680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9A456"/>
                </a:solidFill>
              </a:rPr>
              <a:t>Model:  Minor/Trivial/Total Loss all negative (−1.3</a:t>
            </a:r>
            <a:r>
              <a:rPr lang="en-US" sz="1000" b="1" i="0" dirty="0">
                <a:solidFill>
                  <a:srgbClr val="C9A456"/>
                </a:solidFill>
              </a:rPr>
              <a:t>8</a:t>
            </a:r>
            <a:r>
              <a:rPr sz="1000" b="1" i="0" dirty="0">
                <a:solidFill>
                  <a:srgbClr val="C9A456"/>
                </a:solidFill>
              </a:rPr>
              <a:t> to −1.9</a:t>
            </a:r>
            <a:r>
              <a:rPr lang="en-US" sz="1000" b="1" i="0" dirty="0">
                <a:solidFill>
                  <a:srgbClr val="C9A456"/>
                </a:solidFill>
              </a:rPr>
              <a:t>0</a:t>
            </a:r>
            <a:r>
              <a:rPr sz="1000" b="1" i="0" dirty="0">
                <a:solidFill>
                  <a:srgbClr val="C9A456"/>
                </a:solidFill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907791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" y="2907791"/>
            <a:ext cx="128016" cy="1600200"/>
          </a:xfrm>
          <a:prstGeom prst="rect">
            <a:avLst/>
          </a:prstGeom>
          <a:solidFill>
            <a:srgbClr val="44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2999232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4B"/>
                </a:solidFill>
              </a:rPr>
              <a:t>Vehicle-to-Injury Ratio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364991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343814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vehicle_claim &gt;&gt; injury_claim in fraud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3749039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4472A8"/>
                </a:solidFill>
              </a:rPr>
              <a:t>Model:  Coeff +0.4</a:t>
            </a:r>
            <a:r>
              <a:rPr lang="en-US" sz="1000" b="1" i="0" dirty="0">
                <a:solidFill>
                  <a:srgbClr val="4472A8"/>
                </a:solidFill>
              </a:rPr>
              <a:t>0</a:t>
            </a:r>
            <a:r>
              <a:rPr sz="1000" b="1" i="0" dirty="0">
                <a:solidFill>
                  <a:srgbClr val="4472A8"/>
                </a:solidFill>
              </a:rPr>
              <a:t> · p&lt;0.001 · Staged accident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2907791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45352" y="2907791"/>
            <a:ext cx="128016" cy="1600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2999232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4B"/>
                </a:solidFill>
              </a:rPr>
              <a:t>Property Damage = 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3096" y="3364991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3096" y="343814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elevated fraud when property damaged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749039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4A7C59"/>
                </a:solidFill>
              </a:rPr>
              <a:t>Model:  Coeff +0.</a:t>
            </a:r>
            <a:r>
              <a:rPr lang="en-US" sz="1000" b="1" i="0" dirty="0">
                <a:solidFill>
                  <a:srgbClr val="4A7C59"/>
                </a:solidFill>
              </a:rPr>
              <a:t>40</a:t>
            </a:r>
            <a:r>
              <a:rPr sz="1000" b="1" i="0" dirty="0">
                <a:solidFill>
                  <a:srgbClr val="4A7C59"/>
                </a:solidFill>
              </a:rPr>
              <a:t> · p&lt;0.001 · Fully consistent with EDA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4645152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6032" y="4645152"/>
            <a:ext cx="128016" cy="1600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776" y="4736592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4B"/>
                </a:solidFill>
              </a:rPr>
              <a:t>More Witnesses Present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5102352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" y="517550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fraud cases have higher witness 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5486400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B3A4B"/>
                </a:solidFill>
              </a:rPr>
              <a:t>Model:  Coeff +0.3</a:t>
            </a:r>
            <a:r>
              <a:rPr lang="en-US" sz="1000" b="1" i="0" dirty="0">
                <a:solidFill>
                  <a:srgbClr val="1B3A4B"/>
                </a:solidFill>
              </a:rPr>
              <a:t>2</a:t>
            </a:r>
            <a:r>
              <a:rPr sz="1000" b="1" i="0" dirty="0">
                <a:solidFill>
                  <a:srgbClr val="1B3A4B"/>
                </a:solidFill>
              </a:rPr>
              <a:t> · p=0.00</a:t>
            </a:r>
            <a:r>
              <a:rPr lang="en-US" sz="1000" b="1" i="0" dirty="0">
                <a:solidFill>
                  <a:srgbClr val="1B3A4B"/>
                </a:solidFill>
              </a:rPr>
              <a:t>2</a:t>
            </a:r>
            <a:r>
              <a:rPr sz="1000" b="1" i="0" dirty="0">
                <a:solidFill>
                  <a:srgbClr val="1B3A4B"/>
                </a:solidFill>
              </a:rPr>
              <a:t> · Organized staging confirmed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645152"/>
            <a:ext cx="568756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45352" y="4645152"/>
            <a:ext cx="128016" cy="1600200"/>
          </a:xfrm>
          <a:prstGeom prst="rect">
            <a:avLst/>
          </a:prstGeom>
          <a:solidFill>
            <a:srgbClr val="7B4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83096" y="4736592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4B"/>
                </a:solidFill>
              </a:rPr>
              <a:t>Policy CSL 250/500 Limit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3096" y="5102352"/>
            <a:ext cx="5321808" cy="27432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5175504"/>
            <a:ext cx="5321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5C5C"/>
                </a:solidFill>
              </a:rPr>
              <a:t>EDA:    higher coverage tier = higher fraud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5486400"/>
            <a:ext cx="5321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7B4F28"/>
                </a:solidFill>
              </a:rPr>
              <a:t>Model:  Coeff +0.4</a:t>
            </a:r>
            <a:r>
              <a:rPr lang="en-US" sz="1000" b="1" i="0" dirty="0">
                <a:solidFill>
                  <a:srgbClr val="7B4F28"/>
                </a:solidFill>
              </a:rPr>
              <a:t>7</a:t>
            </a:r>
            <a:r>
              <a:rPr sz="1000" b="1" i="0" dirty="0">
                <a:solidFill>
                  <a:srgbClr val="7B4F28"/>
                </a:solidFill>
              </a:rPr>
              <a:t> · p&lt;0.001 · Premium policy fraud magnet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118872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188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988C"/>
                </a:solidFill>
              </a:rPr>
              <a:t>Area-wise fraud prevention strategy across four operational pillars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88C"/>
                </a:solidFill>
              </a:rPr>
              <a:t>Global Insure  |  Fraudulent Claim Detection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C9A456"/>
                </a:solidFill>
              </a:rPr>
              <a:t>11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5687568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5687568" cy="3840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2344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Policy Underwriting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682496"/>
            <a:ext cx="164592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664208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Risk-score hobbies (chess, cross-fit) at issuance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2121408"/>
            <a:ext cx="164592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Flag PhD / MD / Masters applicants for enhanced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2560320"/>
            <a:ext cx="164592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542032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Higher scrutiny for CSL 250/500 policy applications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2999232"/>
            <a:ext cx="164592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980944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30-day waiting period for high-risk early-claim profiles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170432"/>
            <a:ext cx="5687568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1170432"/>
            <a:ext cx="5687568" cy="384048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2344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Claims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1682496"/>
            <a:ext cx="164592" cy="16459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1664208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Auto-alert: vehicle_claim &gt; 3× injury_claim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1656" y="2121408"/>
            <a:ext cx="164592" cy="16459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103120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Mandatory review if claim filed within 60 days of binding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91656" y="2560320"/>
            <a:ext cx="164592" cy="16459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542032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Flag: ≥2 witnesses + property damage + no police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1656" y="2999232"/>
            <a:ext cx="164592" cy="164592"/>
          </a:xfrm>
          <a:prstGeom prst="rect">
            <a:avLst/>
          </a:prstGeom>
          <a:solidFill>
            <a:srgbClr val="B55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980944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Escalate all 'Major Damage' incidents to SIU automatically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803904"/>
            <a:ext cx="5687568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" y="3803904"/>
            <a:ext cx="5687568" cy="384048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" y="386791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Geographic Operations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497" y="4398264"/>
            <a:ext cx="164592" cy="1645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241" y="4379976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Collaborate with local law enforcement in hotspot cities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497" y="4887976"/>
            <a:ext cx="164592" cy="1645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241" y="4869688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2C2C"/>
                </a:solidFill>
              </a:rPr>
              <a:t>Run targeted fraud-awareness campaigns in high-risk states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497" y="5358384"/>
            <a:ext cx="164592" cy="16459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241" y="5340096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2C2C"/>
                </a:solidFill>
              </a:rPr>
              <a:t>Monitor seasonal claim-spike patterns at city level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1482</Words>
  <Application>Microsoft Macintosh PowerPoint</Application>
  <PresentationFormat>Custom</PresentationFormat>
  <Paragraphs>220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Fulara, Vaibhav</cp:lastModifiedBy>
  <cp:revision>14</cp:revision>
  <dcterms:created xsi:type="dcterms:W3CDTF">2013-01-27T09:14:16Z</dcterms:created>
  <dcterms:modified xsi:type="dcterms:W3CDTF">2026-04-01T15:07:10Z</dcterms:modified>
  <cp:category/>
</cp:coreProperties>
</file>