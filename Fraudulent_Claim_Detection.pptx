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266" r:id="rId10"/>
    <p:sldId id="264" r:id="rId11"/>
    <p:sldId id="265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8"/>
  </p:normalViewPr>
  <p:slideViewPr>
    <p:cSldViewPr snapToGrid="0" snapToObjects="1">
      <p:cViewPr varScale="1">
        <p:scale>
          <a:sx n="119" d="100"/>
          <a:sy n="119" d="100"/>
        </p:scale>
        <p:origin x="5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3200400"/>
            <a:ext cx="11987784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FRAUDULENT CLAIM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23160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9A456"/>
                </a:solidFill>
              </a:rPr>
              <a:t>Data-Driven Fraud Prevention for Global Insure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443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988C"/>
                </a:solidFill>
              </a:rPr>
              <a:t>Exploratory Data Analysis  ·  Predictive Modelling  ·  Business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3977639"/>
            <a:ext cx="2057400" cy="914400"/>
          </a:xfrm>
          <a:prstGeom prst="rect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463040" y="3977639"/>
            <a:ext cx="2057400" cy="4572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406908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456"/>
                </a:solidFill>
              </a:rPr>
              <a:t>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4988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0988C"/>
                </a:solidFill>
              </a:rPr>
              <a:t>Claims Analysed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22191" y="3977639"/>
            <a:ext cx="2057400" cy="914400"/>
          </a:xfrm>
          <a:prstGeom prst="rect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22191" y="3977639"/>
            <a:ext cx="2057400" cy="4572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22191" y="406908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456"/>
                </a:solidFill>
              </a:rPr>
              <a:t>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191" y="44988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0988C"/>
                </a:solidFill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3977639"/>
            <a:ext cx="2057400" cy="914400"/>
          </a:xfrm>
          <a:prstGeom prst="rect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81344" y="3977639"/>
            <a:ext cx="2057400" cy="4572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81344" y="406908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456"/>
                </a:solidFill>
              </a:rPr>
              <a:t>~25%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44988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0988C"/>
                </a:solidFill>
              </a:rPr>
              <a:t>Fraud 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0496" y="3977639"/>
            <a:ext cx="2057400" cy="914400"/>
          </a:xfrm>
          <a:prstGeom prst="rect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540496" y="3977639"/>
            <a:ext cx="2057400" cy="4572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40496" y="406908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456"/>
                </a:solidFill>
              </a:rPr>
              <a:t>84.7%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4988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0988C"/>
                </a:solidFill>
              </a:rPr>
              <a:t>Model 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2179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988C"/>
                </a:solidFill>
              </a:rP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End-to-end analysis — from raw data to boardroom recommendations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2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207008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" y="1207008"/>
            <a:ext cx="2743200" cy="54864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6032" y="1261872"/>
            <a:ext cx="347472" cy="2157984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6032" y="1956816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316736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Dataset &amp; EDA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755648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1,000 claims · 40 features · data cleaning, class balance, distributions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207008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0" y="1207008"/>
            <a:ext cx="2743200" cy="54864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0" y="1261872"/>
            <a:ext cx="347472" cy="2157984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00400" y="1956816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1316736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EDA Visualizations — Behavior &amp; Claims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1024" y="1755648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Hobby/occupation fraud rates · Claim amount distributions by fraud 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1207008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44768" y="1207008"/>
            <a:ext cx="2743200" cy="54864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44768" y="1261872"/>
            <a:ext cx="347472" cy="2157984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44768" y="1956816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5392" y="1316736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EDA Visualizations — Geography &amp; Severity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5392" y="1755648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State hotspots · Incident severity paradox · Hour of day · Documentation gaps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89136" y="1207008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89136" y="1207008"/>
            <a:ext cx="2743200" cy="54864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089136" y="1261872"/>
            <a:ext cx="347472" cy="2157984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89136" y="1956816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1316736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Feature Correlations &amp; Model Evaluation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1755648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Correlation heatmap · Confusion matrices for LR and Random Forest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3694176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56032" y="3694176"/>
            <a:ext cx="2743200" cy="54864"/>
          </a:xfrm>
          <a:prstGeom prst="rect">
            <a:avLst/>
          </a:prstGeom>
          <a:solidFill>
            <a:srgbClr val="5A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56032" y="3749039"/>
            <a:ext cx="347472" cy="2157984"/>
          </a:xfrm>
          <a:prstGeom prst="rect">
            <a:avLst/>
          </a:prstGeom>
          <a:solidFill>
            <a:srgbClr val="5A3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6032" y="4443984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" y="3803904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Key EDA Insights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" y="4242816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Top 6 fraud signals confirmed visually and statistically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3694176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200400" y="3694176"/>
            <a:ext cx="2743200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200400" y="3749039"/>
            <a:ext cx="347472" cy="215798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200400" y="4443984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1024" y="3803904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Model Building &amp; Results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1024" y="4242816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Logistic Regression vs Tuned Random Forest — full metric comparison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44768" y="3694176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144768" y="3694176"/>
            <a:ext cx="2743200" cy="54864"/>
          </a:xfrm>
          <a:prstGeom prst="rect">
            <a:avLst/>
          </a:prstGeom>
          <a:solidFill>
            <a:srgbClr val="6B4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144768" y="3749039"/>
            <a:ext cx="347472" cy="2157984"/>
          </a:xfrm>
          <a:prstGeom prst="rect">
            <a:avLst/>
          </a:prstGeom>
          <a:solidFill>
            <a:srgbClr val="6B4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44768" y="4443984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65392" y="3803904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EDA Confirmed by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65392" y="4242816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Coefficients &amp; feature importances that validate EDA observations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89136" y="3694176"/>
            <a:ext cx="2743200" cy="22128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089136" y="3694176"/>
            <a:ext cx="2743200" cy="54864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089136" y="3749039"/>
            <a:ext cx="347472" cy="2157984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089136" y="4443984"/>
            <a:ext cx="3474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3803904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Business Recommendations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60" y="4242816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5C5C"/>
                </a:solidFill>
              </a:rPr>
              <a:t>Area-wise fraud prevention strategy across 4 operational pillars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Dataset &amp; Exploratory Data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1,000 insurance claims · 40 raw features · target: fraud_reported (Y / 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3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170432"/>
            <a:ext cx="2761488" cy="89611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6032" y="1216152"/>
            <a:ext cx="2761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" y="1645920"/>
            <a:ext cx="2761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Total Claims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170432"/>
            <a:ext cx="2761488" cy="89611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0" y="1216152"/>
            <a:ext cx="2761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~25%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1645920"/>
            <a:ext cx="2761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Fraud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170432"/>
            <a:ext cx="2761488" cy="89611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44768" y="1216152"/>
            <a:ext cx="2761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1645920"/>
            <a:ext cx="2761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Clean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89136" y="1170432"/>
            <a:ext cx="2761488" cy="89611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89136" y="1216152"/>
            <a:ext cx="2761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136" y="1645920"/>
            <a:ext cx="2761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New Features Eng.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2231136"/>
            <a:ext cx="5596128" cy="34747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8" y="2286000"/>
            <a:ext cx="5367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 Quality &amp; Cleaning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2578608"/>
            <a:ext cx="5596128" cy="1783080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1480" y="2651760"/>
            <a:ext cx="5303520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Replaced '?' in collision_type, property_damage, police_report_available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2985515"/>
            <a:ext cx="5303520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Dropped _c39 (100% null), policy_number, incident_location, insured_zip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3319272"/>
            <a:ext cx="5303520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Imputed collision_type (mode) &amp; property_damage (claim-value logic)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3653028"/>
            <a:ext cx="5303520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Removed negative umbrella_limit &amp; illogical premium/claim 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3986783"/>
            <a:ext cx="5303520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Final: 998 rows × 36 features after cleaning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2231136"/>
            <a:ext cx="5852160" cy="34747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08776" y="228600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Class Balance &amp; Splitting Strategy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578608"/>
            <a:ext cx="5852160" cy="1783080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36208" y="2651760"/>
            <a:ext cx="5541264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Target: ~75% Legitimate · ~25% Fraudulent (imbalanced)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8" y="2985515"/>
            <a:ext cx="5541264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Train / Validation: 70 / 30 stratified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319272"/>
            <a:ext cx="5541264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Training set: 698 rows · Validation: 299 rows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653028"/>
            <a:ext cx="5541264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RandomOverSampler → balanced 1,050 training rows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986783"/>
            <a:ext cx="5541264" cy="379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▸  StandardScaler: fitted on train, applied to validation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4498848"/>
            <a:ext cx="11676888" cy="27432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4526280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456"/>
                </a:solidFill>
              </a:rPr>
              <a:t>KEY DISTRIBUTION FINDINGS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4818888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▸  Vehicle &amp; Total Claim → Bimodal distribution (trivial low + genuine mid-range)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4818888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▸  Umbrella Limit → Highly right-skewed; most customers skip extra coverage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5111496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▸  Incident Hour → Fraud median 13:00 vs Legitimate 11:00 (afternoon spike)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5111496"/>
            <a:ext cx="5715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▸  Capital Loss → 50%+ of fraud cases show capital_loss =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EDA Visualizations — Behavioral &amp; Claim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Fraud rate by hobby/occupation  ·  Claim amount distributions by fraud status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4 / 11</a:t>
            </a:r>
          </a:p>
        </p:txBody>
      </p:sp>
      <p:pic>
        <p:nvPicPr>
          <p:cNvPr id="10" name="Picture 9" descr="plot_a_hobby_occup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15568"/>
            <a:ext cx="6309360" cy="39319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56032" y="5084064"/>
            <a:ext cx="6309360" cy="566928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5148072"/>
            <a:ext cx="61081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chess &amp; cross-fit show ~80% fraud rate  ·  exec-managerial is highest-risk occupation  ·  Red bars exceed the 40% fraud threshold — immediate risk-scoring candidates at policy issuance</a:t>
            </a:r>
          </a:p>
        </p:txBody>
      </p:sp>
      <p:pic>
        <p:nvPicPr>
          <p:cNvPr id="13" name="Picture 12" descr="plot_b_claim_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115568"/>
            <a:ext cx="5212080" cy="3931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720840" y="5084064"/>
            <a:ext cx="5212080" cy="566928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30568" y="5148072"/>
            <a:ext cx="50109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Fraudulent claims cluster at higher vehicle &amp; total claim values  ·  Injury claim shows less separation — fraudsters inflate vehicle damage while minimising body injury claims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EDA Visualizations — Geography, Severity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State-level fraud rates  ·  Incident severity paradox  ·  Hour of day &amp; police report patterns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5 / 11</a:t>
            </a:r>
          </a:p>
        </p:txBody>
      </p:sp>
      <p:pic>
        <p:nvPicPr>
          <p:cNvPr id="10" name="Picture 9" descr="plot_c_geo_seve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15568"/>
            <a:ext cx="7178040" cy="37947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56032" y="4937760"/>
            <a:ext cx="7178040" cy="658368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5001768"/>
            <a:ext cx="6976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OH &amp; PA are fraud hotspots (&gt;30%)  ·  Major Damage carries the highest fraud %  ·  Fraudsters stage moderate-damage scenes — trivial &amp; total-loss incidents are less likely to be fraudulent</a:t>
            </a:r>
          </a:p>
        </p:txBody>
      </p:sp>
      <p:pic>
        <p:nvPicPr>
          <p:cNvPr id="13" name="Picture 12" descr="plot_e_timing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231" y="1115568"/>
            <a:ext cx="4370832" cy="379476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71231" y="4937760"/>
            <a:ext cx="4370832" cy="658368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59" y="5001768"/>
            <a:ext cx="41696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Fraud peaks at hour 13 (vs 11 for legit)  ·  No police report strongly correlates with fraud  ·  Property damage = YES is a significant flag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Feature Correlations &amp; Model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Correlation heatmap for feature selection  ·  Confusion matrices on validation 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6 / 11</a:t>
            </a:r>
          </a:p>
        </p:txBody>
      </p:sp>
      <p:pic>
        <p:nvPicPr>
          <p:cNvPr id="10" name="Picture 9" descr="plot_d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15568"/>
            <a:ext cx="5577840" cy="40965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56032" y="5239512"/>
            <a:ext cx="5577840" cy="548640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5303520"/>
            <a:ext cx="5376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total_claim · vehicle_claim · injury_claim are highly co-linear → replaced with claim_to_premium_ratio  ·  age &amp; months_as_customer correlated → age dropped to reduce redundancy</a:t>
            </a:r>
          </a:p>
        </p:txBody>
      </p:sp>
      <p:pic>
        <p:nvPicPr>
          <p:cNvPr id="13" name="Picture 12" descr="plot_f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417320"/>
            <a:ext cx="5897880" cy="345643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035040" y="4901184"/>
            <a:ext cx="5897880" cy="88696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44768" y="4965192"/>
            <a:ext cx="569671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Random Forest catches 60/74 fraud cases (81% sensitivity)  ·  32 false alarms vs 35 for LR  ·  Both models flag ~81% of actual frauds — minimising costly missed detections for the business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Key EDA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Six patterns that clearly distinguish fraudulent from legitimate claims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7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188720"/>
            <a:ext cx="3794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" y="1188720"/>
            <a:ext cx="3794760" cy="365760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1243584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Hobby Risk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554480"/>
            <a:ext cx="3794760" cy="5029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4048" y="1664208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5573A"/>
                </a:solidFill>
              </a:rPr>
              <a:t>chess &amp; cross-fit → ~80% fraud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066543"/>
            <a:ext cx="35478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5C5C"/>
                </a:solidFill>
              </a:rPr>
              <a:t>Lifestyle signals intent before a claim is filed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1104" y="1188720"/>
            <a:ext cx="3794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61104" y="1188720"/>
            <a:ext cx="3794760" cy="36576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0" y="1243584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Severity Paradox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61104" y="1554480"/>
            <a:ext cx="3794760" cy="5029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89120" y="1664208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456"/>
                </a:solidFill>
              </a:rPr>
              <a:t>Major Damage → MORE fraud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066543"/>
            <a:ext cx="35478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5C5C"/>
                </a:solidFill>
              </a:rPr>
              <a:t>Fraudsters stage moderate scenes to appear credible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5" y="1188720"/>
            <a:ext cx="3794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66175" y="1188720"/>
            <a:ext cx="3794760" cy="365760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94192" y="1243584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Vehicle vs Injury Ratio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66175" y="1554480"/>
            <a:ext cx="3794760" cy="5029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94192" y="1664208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472A8"/>
                </a:solidFill>
              </a:rPr>
              <a:t>vehicle_claim &gt;&gt; injury_claim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066543"/>
            <a:ext cx="35478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5C5C"/>
                </a:solidFill>
              </a:rPr>
              <a:t>Staged accidents inflate vehicle damage; minimize injury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3749039"/>
            <a:ext cx="3794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6032" y="3749039"/>
            <a:ext cx="3794760" cy="36576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84048" y="3803903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Education Skew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" y="4114800"/>
            <a:ext cx="3794760" cy="5029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4048" y="4224527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7C59"/>
                </a:solidFill>
              </a:rPr>
              <a:t>Masters / PhD / MD → higher fraud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" y="4626864"/>
            <a:ext cx="35478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5C5C"/>
                </a:solidFill>
              </a:rPr>
              <a:t>Higher financial literacy enables sophisticated schemes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1104" y="3749039"/>
            <a:ext cx="3794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61104" y="3749039"/>
            <a:ext cx="3794760" cy="36576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89120" y="3803903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Geographic Hotspots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61104" y="4114800"/>
            <a:ext cx="3794760" cy="5029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89120" y="4224527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3A4B"/>
                </a:solidFill>
              </a:rPr>
              <a:t>OH &amp; PA → high fraud states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4626864"/>
            <a:ext cx="35478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5C5C"/>
                </a:solidFill>
              </a:rPr>
              <a:t>Regional fraud networks require targeted SIU deployment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66175" y="3749039"/>
            <a:ext cx="37947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266175" y="3749039"/>
            <a:ext cx="3794760" cy="365760"/>
          </a:xfrm>
          <a:prstGeom prst="rect">
            <a:avLst/>
          </a:prstGeom>
          <a:solidFill>
            <a:srgbClr val="7B4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94192" y="3803903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Witness + No Police Report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66175" y="4114800"/>
            <a:ext cx="3794760" cy="5029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94192" y="4224527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4F28"/>
                </a:solidFill>
              </a:rPr>
              <a:t>≥2 witnesses + no police doc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2" y="4626864"/>
            <a:ext cx="35478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5C5C"/>
                </a:solidFill>
              </a:rPr>
              <a:t>Pre-arranged witnesses without official records = staging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Model Building &amp; Validation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Logistic Regression vs Tuned Random Forest  ·  Stratified 70/30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8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143000"/>
            <a:ext cx="11676888" cy="38404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17957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39" y="11795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LR — 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179576"/>
            <a:ext cx="2057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LR —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1795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RF — 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1795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RF — Validation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1527048"/>
            <a:ext cx="11676888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Accuracy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1" y="160934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88.19%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1609344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83.67%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68312" y="160934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93.43%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5712" y="160934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84.67%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1956815"/>
            <a:ext cx="11676888" cy="429768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203911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Sensitivity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1" y="2039111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90.48%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3752" y="2039111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81.08%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8312" y="2039111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96.76%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2039111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81.08%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386584"/>
            <a:ext cx="11676888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" y="246887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Specificity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6351" y="2468879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85.90%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3752" y="2468879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84.51%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2468879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90.10%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5712" y="2468879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85.84%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16352"/>
            <a:ext cx="11676888" cy="429768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5760" y="289864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Precision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6351" y="289864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86.52%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73752" y="2898648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63.16%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68312" y="289864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90.71%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5712" y="289864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65.22%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" y="3246120"/>
            <a:ext cx="11676888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5760" y="3328415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F1-Score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6351" y="3328415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88.45%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3752" y="3328415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71.01%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68312" y="3328415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93.64%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5712" y="3328415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72.29%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" y="3675887"/>
            <a:ext cx="11676888" cy="429768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65760" y="3758183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4B"/>
                </a:solidFill>
              </a:rPr>
              <a:t>AUC-ROC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16351" y="3758183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93.28%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73752" y="3758183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A7C59"/>
                </a:solidFill>
              </a:rPr>
              <a:t>0.877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3758183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2C2C"/>
                </a:solidFill>
              </a:rPr>
              <a:t>~95%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25712" y="3758183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A7C59"/>
                </a:solidFill>
              </a:rPr>
              <a:t>0.893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6032" y="4160520"/>
            <a:ext cx="11676888" cy="42062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11480" y="4206240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WINNER: Tuned Random Forest  —  Val. Accuracy 84.67%  ·  F1 72.29%  ·  Best balance of Sensitivity &amp; Specificity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6032" y="4736592"/>
            <a:ext cx="5596128" cy="347472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84048" y="4791455"/>
            <a:ext cx="5367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Logistic Regression Strengths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6032" y="5084064"/>
            <a:ext cx="5596128" cy="1417320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80" y="5148072"/>
            <a:ext cx="5285232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11 features selected by RFECV (optimal subset)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" y="5472683"/>
            <a:ext cx="5285232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AUC-ROC 93.28% — excellent class discrimination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" y="5797296"/>
            <a:ext cx="5285232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Highly interpretable: coefficients map to business rules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6121908"/>
            <a:ext cx="5285232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Pseudo R² = 0.52 — strong explanatory power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80760" y="4736592"/>
            <a:ext cx="5852160" cy="34747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208776" y="4791455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Random Forest Strengths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5084064"/>
            <a:ext cx="5852160" cy="1417320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236208" y="5148072"/>
            <a:ext cx="5541264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Captures non-linear interactions missed by LR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36208" y="5472683"/>
            <a:ext cx="5541264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GridSearchCV tuned: depth=22, trees=70, leaf=5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36208" y="5797296"/>
            <a:ext cx="5541264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5-fold CV accuracy ~92% — robust generalisation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36208" y="6121908"/>
            <a:ext cx="5541264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2C2C"/>
                </a:solidFill>
              </a:rPr>
              <a:t>▸  Balanced subsample class_weight handles imbalance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ROC-AUC Comparison — Validation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Area Under the Curve measures discrimination ability on unseen data  ·  Higher AUC = better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9 / 11</a:t>
            </a:r>
          </a:p>
        </p:txBody>
      </p:sp>
      <p:pic>
        <p:nvPicPr>
          <p:cNvPr id="10" name="Picture 9" descr="plot_ro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15568"/>
            <a:ext cx="6858000" cy="50292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543800" y="1115567"/>
            <a:ext cx="4389120" cy="2084831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11887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456"/>
                </a:solidFill>
              </a:rPr>
              <a:t>AUC-ROC 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53619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988C"/>
                </a:solidFill>
              </a:rPr>
              <a:t>Validation Set (299 records)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1783080"/>
            <a:ext cx="4389120" cy="36576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543800" y="1901952"/>
            <a:ext cx="4389120" cy="457200"/>
          </a:xfrm>
          <a:prstGeom prst="rect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62672" y="19933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Logistic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78440" y="195681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4472A8"/>
                </a:solidFill>
              </a:rPr>
              <a:t>0.877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2404872"/>
            <a:ext cx="4389120" cy="457200"/>
          </a:xfrm>
          <a:prstGeom prst="rect">
            <a:avLst/>
          </a:prstGeom>
          <a:solidFill>
            <a:srgbClr val="0E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62672" y="249631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Random Forest (Tuned)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78440" y="24597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B5573A"/>
                </a:solidFill>
              </a:rPr>
              <a:t>0.893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2907792"/>
            <a:ext cx="4389120" cy="630936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62672" y="29992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Random (baseline)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78440" y="296265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5C5C5C"/>
                </a:solidFill>
              </a:rPr>
              <a:t>0.500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2" y="3200400"/>
            <a:ext cx="4160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456"/>
                </a:solidFill>
              </a:rPr>
              <a:t>Winner: Random Forest (+1.6% AUC over LR)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3800" y="3703320"/>
            <a:ext cx="4389120" cy="347472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62672" y="3739896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What these AUC scores mean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4050791"/>
            <a:ext cx="4389120" cy="1920240"/>
          </a:xfrm>
          <a:prstGeom prst="rect">
            <a:avLst/>
          </a:prstGeom>
          <a:solidFill>
            <a:srgbClr val="EEE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62672" y="4114800"/>
            <a:ext cx="4160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2C2C"/>
                </a:solidFill>
              </a:rPr>
              <a:t>▸  AUC 0.893: RF correctly ranks a random fraud
  claim above a legit one 89.3% of the 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4572000"/>
            <a:ext cx="4160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2C2C"/>
                </a:solidFill>
              </a:rPr>
              <a:t>▸  AUC 0.877: LR is also strong — suitable when
  interpretability is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62672" y="5029200"/>
            <a:ext cx="4160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2C2C"/>
                </a:solidFill>
              </a:rPr>
              <a:t>▸  Both models far exceed random (0.50),
  confirming genuine predictive power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2" y="5486400"/>
            <a:ext cx="4160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2C2C"/>
                </a:solidFill>
              </a:rPr>
              <a:t>▸  Operating point annotated at cutoff 0.5
  (FPR ≈ 0.15, TPR ≈ 0.81)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EDA Insights Confirmed by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LR coefficients &amp; RF importances validate every major EDA observation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170432"/>
            <a:ext cx="568756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" y="1170432"/>
            <a:ext cx="128016" cy="1600200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3776" y="1261872"/>
            <a:ext cx="5321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4B"/>
                </a:solidFill>
              </a:rPr>
              <a:t>Hobbies: chess &amp; cross-fit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1627632"/>
            <a:ext cx="5321808" cy="2743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" y="1700784"/>
            <a:ext cx="5321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EDA:    ~80% fraud rate observed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011680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5573A"/>
                </a:solidFill>
              </a:rPr>
              <a:t>Model:  Coeff +2.23 · p&lt;0.001 · Strongest predictor overall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1170432"/>
            <a:ext cx="568756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45352" y="1170432"/>
            <a:ext cx="128016" cy="1600200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83096" y="1261872"/>
            <a:ext cx="5321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4B"/>
                </a:solidFill>
              </a:rPr>
              <a:t>Incident Severity Paradox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3096" y="1627632"/>
            <a:ext cx="5321808" cy="2743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83096" y="1700784"/>
            <a:ext cx="5321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EDA:    Major Damage = more fraud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011680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456"/>
                </a:solidFill>
              </a:rPr>
              <a:t>Model:  Minor/Trivial/TotalLoss all negative (−1.3 to −1.9)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2907791"/>
            <a:ext cx="568756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56032" y="2907791"/>
            <a:ext cx="128016" cy="1600200"/>
          </a:xfrm>
          <a:prstGeom prst="rect">
            <a:avLst/>
          </a:prstGeom>
          <a:solidFill>
            <a:srgbClr val="44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3776" y="2999232"/>
            <a:ext cx="5321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4B"/>
                </a:solidFill>
              </a:rPr>
              <a:t>Vehicle-to-Injury Ratio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" y="3364991"/>
            <a:ext cx="5321808" cy="2743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3776" y="3438144"/>
            <a:ext cx="5321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EDA:    vehicle_claim &gt;&gt; injury_claim in fraud cases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3749039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72A8"/>
                </a:solidFill>
              </a:rPr>
              <a:t>Model:  Coeff +0.41 · p&lt;0.001 · Staged accident signal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352" y="2907791"/>
            <a:ext cx="568756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45352" y="2907791"/>
            <a:ext cx="128016" cy="16002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83096" y="2999232"/>
            <a:ext cx="5321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4B"/>
                </a:solidFill>
              </a:rPr>
              <a:t>Property Damage = YES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83096" y="3364991"/>
            <a:ext cx="5321808" cy="2743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83096" y="3438144"/>
            <a:ext cx="5321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EDA:    elevated fraud when property damaged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3096" y="3749039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C59"/>
                </a:solidFill>
              </a:rPr>
              <a:t>Model:  Coeff +0.39 · p&lt;0.001 · Fully consistent with EDA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4645152"/>
            <a:ext cx="568756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56032" y="4645152"/>
            <a:ext cx="128016" cy="160020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93776" y="4736592"/>
            <a:ext cx="5321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4B"/>
                </a:solidFill>
              </a:rPr>
              <a:t>More Witnesses Present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" y="5102352"/>
            <a:ext cx="5321808" cy="2743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93776" y="5175504"/>
            <a:ext cx="5321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EDA:    fraud cases have higher witness count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" y="5486400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4B"/>
                </a:solidFill>
              </a:rPr>
              <a:t>Model:  Coeff +0.31 · p=0.004 · Organised staging confirmed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45352" y="4645152"/>
            <a:ext cx="568756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245352" y="4645152"/>
            <a:ext cx="128016" cy="1600200"/>
          </a:xfrm>
          <a:prstGeom prst="rect">
            <a:avLst/>
          </a:prstGeom>
          <a:solidFill>
            <a:srgbClr val="7B4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83096" y="4736592"/>
            <a:ext cx="5321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4B"/>
                </a:solidFill>
              </a:rPr>
              <a:t>Policy CSL 250/500 Limit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83096" y="5102352"/>
            <a:ext cx="5321808" cy="27432"/>
          </a:xfrm>
          <a:prstGeom prst="rect">
            <a:avLst/>
          </a:prstGeom>
          <a:solidFill>
            <a:srgbClr val="D4C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83096" y="5175504"/>
            <a:ext cx="5321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C5C5C"/>
                </a:solidFill>
              </a:rPr>
              <a:t>EDA:    higher coverage tier = higher fraud 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83096" y="5486400"/>
            <a:ext cx="53218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B4F28"/>
                </a:solidFill>
              </a:rPr>
              <a:t>Model:  Coeff +0.46 · p&lt;0.001 · Premium policy fraud magnet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2412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88952" cy="502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18872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Business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5836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0988C"/>
                </a:solidFill>
              </a:rPr>
              <a:t>Area-wise fraud prevention strategy across four operational pillars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6611112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988C"/>
                </a:solidFill>
              </a:rPr>
              <a:t>Global Insure  |  Fraudulent Claim Detection  |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11112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C9A456"/>
                </a:solidFill>
              </a:rPr>
              <a:t>11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170432"/>
            <a:ext cx="5687568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" y="1170432"/>
            <a:ext cx="5687568" cy="384048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" y="123444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Policy Underwriting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" y="1682496"/>
            <a:ext cx="164592" cy="16459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1664208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Risk-score hobbies (chess, cross-fit) at issuance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121408"/>
            <a:ext cx="164592" cy="16459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Flag PhD / MD / Masters applicants for enhanced checks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2560320"/>
            <a:ext cx="164592" cy="16459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2542032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Higher scrutiny for CSL 250/500 policy applications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" y="2999232"/>
            <a:ext cx="164592" cy="164592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2980944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30-day waiting period for high-risk early-claim profiles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352" y="1170432"/>
            <a:ext cx="5687568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45352" y="1170432"/>
            <a:ext cx="5687568" cy="384048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91656" y="1234440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Claims Processing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91656" y="1682496"/>
            <a:ext cx="164592" cy="16459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29400" y="1664208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Auto-alert: vehicle_claim &gt; 3× injury_claim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91656" y="2121408"/>
            <a:ext cx="164592" cy="16459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29400" y="2103120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Mandatory review if claim filed within 60 days of binding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91656" y="2560320"/>
            <a:ext cx="164592" cy="16459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29400" y="2542032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Flag: ≥2 witnesses + property damage + no police report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91656" y="2999232"/>
            <a:ext cx="164592" cy="164592"/>
          </a:xfrm>
          <a:prstGeom prst="rect">
            <a:avLst/>
          </a:prstGeom>
          <a:solidFill>
            <a:srgbClr val="B55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29400" y="2980944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Escalate all 'Major Damage' incidents to SIU automatically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" y="3803904"/>
            <a:ext cx="5687568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56032" y="3803904"/>
            <a:ext cx="5687568" cy="384048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02336" y="3867912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Geographic Operations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" y="4315968"/>
            <a:ext cx="164592" cy="1645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4297680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Deploy Special Investigation Units (SIU) in OH &amp; PA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2336" y="4754880"/>
            <a:ext cx="164592" cy="1645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4736592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Collaborate with local law enforcement in hotspot cities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" y="5193792"/>
            <a:ext cx="164592" cy="1645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" y="5175504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Run targeted fraud-awareness campaigns in high-risk states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2336" y="5632704"/>
            <a:ext cx="164592" cy="164592"/>
          </a:xfrm>
          <a:prstGeom prst="rect">
            <a:avLst/>
          </a:prstGeom>
          <a:solidFill>
            <a:srgbClr val="C9A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5614416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Monitor seasonal claim-spike patterns at city level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45352" y="3803904"/>
            <a:ext cx="5687568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245352" y="3803904"/>
            <a:ext cx="5687568" cy="384048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91656" y="3867912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Technology &amp; Data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91656" y="4315968"/>
            <a:ext cx="164592" cy="16459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29400" y="4297680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Deploy Tuned Random Forest in production (84.67% accuracy)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91656" y="4754880"/>
            <a:ext cx="164592" cy="16459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629400" y="4736592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Implement real-time scoring pipeline at claim intake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91656" y="5193792"/>
            <a:ext cx="164592" cy="16459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29400" y="5175504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Enrich data: lifestyle signals, telematics, social patterns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91656" y="5632704"/>
            <a:ext cx="164592" cy="164592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29400" y="5614416"/>
            <a:ext cx="5138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</a:rPr>
              <a:t>Retrain model quarterly to track evolving fraud patterns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1530</Words>
  <Application>Microsoft Macintosh PowerPoint</Application>
  <PresentationFormat>Custom</PresentationFormat>
  <Paragraphs>223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Fulara, Vaibhav</cp:lastModifiedBy>
  <cp:revision>3</cp:revision>
  <dcterms:created xsi:type="dcterms:W3CDTF">2013-01-27T09:14:16Z</dcterms:created>
  <dcterms:modified xsi:type="dcterms:W3CDTF">2026-03-29T05:13:40Z</dcterms:modified>
  <cp:category/>
</cp:coreProperties>
</file>